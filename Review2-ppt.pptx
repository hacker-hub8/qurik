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61" r:id="rId6"/>
    <p:sldId id="262" r:id="rId7"/>
    <p:sldId id="259" r:id="rId8"/>
    <p:sldId id="264" r:id="rId9"/>
    <p:sldId id="265" r:id="rId10"/>
    <p:sldId id="266" r:id="rId11"/>
    <p:sldId id="267" r:id="rId12"/>
    <p:sldId id="260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6ACD-6FAD-B07B-2D76-2DDB083D6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BF37F-2472-3E9F-A546-D03A26262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7A0A-7A6C-6A8E-D01D-C4D84D58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2729E-005B-568B-42B4-D7986AC8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F186E-912C-E2AD-D40E-9AF31FBA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21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ABC0-DA19-A10E-D734-FE7FFE8B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9122-485A-5DB6-D896-0838FCF01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05CB4-D5DF-672A-18FF-9F6959A53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3422B-4393-C534-0704-4B552E9E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44703-39CA-5FCB-66B6-0351E3E2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26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0F97-870C-33E9-042A-1E5E7251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F88A4-5913-8E89-0E83-5DAB46589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C9BE-BC8F-8A7A-B0FF-CD8A6273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115FB-469E-213C-201F-32B78BE3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33661-696E-74C8-A941-B3CC9A3C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99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92C-A2F0-8A10-E6F3-2E1D046E1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D389-6FC3-6923-33C1-06357B400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15F4-61A4-2F8B-BE42-47D5A72DB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1E9AA-D473-AC4C-5F34-92DAD5AF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C4E05-6078-2E30-002F-F5B3B0E17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C902F-5AA5-9465-6986-D82BD653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74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A612-E3E5-14FD-A0D1-C6B44203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C4811-1833-7B66-6783-A49ECCDF5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0A264-8EC3-889D-8DD6-980942937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CB5B4-3720-99BE-8A44-D8789F2F0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082A38-B11D-856C-BF85-1469322D7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F2F928-DA5A-A028-37BE-20F7833A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193E7-BAAA-77F0-D7BA-B33D7D92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FCC64-25E2-5DCF-09F1-171A9060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04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5A36-73AA-7696-B33C-2472FCCC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971F0-DFB1-B4F1-9FB2-0E9A4B71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DCB44-77C2-E9A8-FED3-3F96FB02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0ADD4-7B56-F3B8-098F-CED0B27B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3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AD1C5-96E0-43B1-6618-D9CEB062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48C2B-2319-F648-FC89-7710DC24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6F05A-141C-4FFA-4968-22448102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68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BD8A-45AC-B93C-C627-A6A2E8E0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312DF-08B0-AE28-D3A3-07DBD2173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24BD7-115C-28F9-77D9-1B4F5DA67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3C2DD-064F-BE90-CA31-0C794C53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31085-DF33-44A1-712E-E940F226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EAE90-C4E8-B3D5-962C-43708155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8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B0DE-4903-6ECF-3B89-27D9580D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058236-5543-8F02-F54C-636A30375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C8F56-FA1F-142F-A12C-4DAAC8CDF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B8669-2BC2-2EC5-8956-B93AF552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65948-00DD-31E9-85D3-3B5C2903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65D2A-E712-AE69-7EC8-CF072DC7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090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35F4-022A-7C8E-0153-10F77FDB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1477F-6E01-5FE5-2F74-BD6B42B0B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E04F6-165F-E170-19E0-4225B693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F1F6E-5856-B99C-F56B-843BC2E7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0857-24F1-04FE-3340-8DF3CD1D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BAA86-36BA-E5C5-ECB1-62A1FC08B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3495E-0F25-A6DC-29C0-899D95C2A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942F5-92A4-4018-8B08-620D9811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C4023-7235-9C2C-F4FF-963796FC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83334-070B-A92D-EF51-E13A2804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836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7AD02-CDC6-D0AD-AD63-ABA36344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395AE-84CD-EF24-CC27-8DB99B19C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DC39F-FA89-2BBB-C1D5-A42C017A2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5E13C-4054-48E1-B782-E680EC84FDEB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CD067-9247-5995-9157-65ACE5384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972BD-8563-86F5-2F80-201440A44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4AF0C-1C63-419A-9134-90CF707884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52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lmasaeed2010/AdminLTE" TargetMode="External"/><Relationship Id="rId13" Type="http://schemas.openxmlformats.org/officeDocument/2006/relationships/hyperlink" Target="https://ip.nf/" TargetMode="External"/><Relationship Id="rId18" Type="http://schemas.openxmlformats.org/officeDocument/2006/relationships/hyperlink" Target="https://abpetkov.github.io/switchery" TargetMode="External"/><Relationship Id="rId3" Type="http://schemas.microsoft.com/office/2007/relationships/hdphoto" Target="../media/hdphoto3.wdp"/><Relationship Id="rId21" Type="http://schemas.openxmlformats.org/officeDocument/2006/relationships/hyperlink" Target="https://www.cloudflare.com/" TargetMode="External"/><Relationship Id="rId7" Type="http://schemas.openxmlformats.org/officeDocument/2006/relationships/hyperlink" Target="https://jquery.com/" TargetMode="External"/><Relationship Id="rId12" Type="http://schemas.openxmlformats.org/officeDocument/2006/relationships/hyperlink" Target="https://www.flag-sprites.com/" TargetMode="External"/><Relationship Id="rId17" Type="http://schemas.openxmlformats.org/officeDocument/2006/relationships/hyperlink" Target="https://www.iphunter.info/" TargetMode="External"/><Relationship Id="rId2" Type="http://schemas.openxmlformats.org/officeDocument/2006/relationships/image" Target="../media/image3.png"/><Relationship Id="rId16" Type="http://schemas.openxmlformats.org/officeDocument/2006/relationships/hyperlink" Target="https://proxycheck.io/" TargetMode="External"/><Relationship Id="rId20" Type="http://schemas.openxmlformats.org/officeDocument/2006/relationships/hyperlink" Target="https://github.com/KingSora/OverlayScrollbar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tatables.net/" TargetMode="External"/><Relationship Id="rId11" Type="http://schemas.openxmlformats.org/officeDocument/2006/relationships/hyperlink" Target="https://www.chartjs.org/" TargetMode="External"/><Relationship Id="rId5" Type="http://schemas.openxmlformats.org/officeDocument/2006/relationships/hyperlink" Target="https://getbootstrap.com/" TargetMode="External"/><Relationship Id="rId15" Type="http://schemas.openxmlformats.org/officeDocument/2006/relationships/hyperlink" Target="https://iphub.info/" TargetMode="External"/><Relationship Id="rId10" Type="http://schemas.openxmlformats.org/officeDocument/2006/relationships/hyperlink" Target="https://github.com/openlayers/openlayers" TargetMode="External"/><Relationship Id="rId19" Type="http://schemas.openxmlformats.org/officeDocument/2006/relationships/hyperlink" Target="https://popper.js.org/" TargetMode="External"/><Relationship Id="rId4" Type="http://schemas.openxmlformats.org/officeDocument/2006/relationships/hyperlink" Target="https://fontawesome.com/" TargetMode="External"/><Relationship Id="rId9" Type="http://schemas.openxmlformats.org/officeDocument/2006/relationships/hyperlink" Target="https://select2.github.io/" TargetMode="External"/><Relationship Id="rId14" Type="http://schemas.openxmlformats.org/officeDocument/2006/relationships/hyperlink" Target="https://ipapi.co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2000"/>
                    </a14:imgEffect>
                    <a14:imgEffect>
                      <a14:brightnessContrast bright="8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7;p13">
            <a:extLst>
              <a:ext uri="{FF2B5EF4-FFF2-40B4-BE49-F238E27FC236}">
                <a16:creationId xmlns:a16="http://schemas.microsoft.com/office/drawing/2014/main" id="{7A033E7F-8B26-8919-E97F-4C3455DB8451}"/>
              </a:ext>
            </a:extLst>
          </p:cNvPr>
          <p:cNvSpPr txBox="1">
            <a:spLocks noGrp="1"/>
          </p:cNvSpPr>
          <p:nvPr/>
        </p:nvSpPr>
        <p:spPr>
          <a:xfrm>
            <a:off x="914399" y="1308705"/>
            <a:ext cx="10363200" cy="96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Establishing a Server log system for E-governance with appropriate notification and content based classification of log AICTE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Google Shape;88;p13">
            <a:extLst>
              <a:ext uri="{FF2B5EF4-FFF2-40B4-BE49-F238E27FC236}">
                <a16:creationId xmlns:a16="http://schemas.microsoft.com/office/drawing/2014/main" id="{CC165447-49A0-0068-1888-C72DC522F944}"/>
              </a:ext>
            </a:extLst>
          </p:cNvPr>
          <p:cNvSpPr txBox="1">
            <a:spLocks noGrp="1"/>
          </p:cNvSpPr>
          <p:nvPr/>
        </p:nvSpPr>
        <p:spPr>
          <a:xfrm>
            <a:off x="500610" y="2344779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Batch Number : CCS_05</a:t>
            </a:r>
            <a:endParaRPr sz="1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Google Shape;90;p13">
            <a:extLst>
              <a:ext uri="{FF2B5EF4-FFF2-40B4-BE49-F238E27FC236}">
                <a16:creationId xmlns:a16="http://schemas.microsoft.com/office/drawing/2014/main" id="{23A0662E-81BD-C85C-A6AF-ADFE22134A43}"/>
              </a:ext>
            </a:extLst>
          </p:cNvPr>
          <p:cNvSpPr txBox="1"/>
          <p:nvPr/>
        </p:nvSpPr>
        <p:spPr>
          <a:xfrm>
            <a:off x="6966685" y="3063463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17365D"/>
              </a:buClr>
              <a:buSzPts val="2000"/>
            </a:pPr>
            <a:r>
              <a:rPr lang="en-GB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spcBef>
                <a:spcPts val="400"/>
              </a:spcBef>
              <a:buClr>
                <a:srgbClr val="17365D"/>
              </a:buClr>
              <a:buSzPts val="2000"/>
            </a:pPr>
            <a:endParaRPr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Guide - Dr. </a:t>
            </a:r>
            <a:r>
              <a:rPr lang="en-GB" sz="17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GB" sz="1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 </a:t>
            </a:r>
            <a:r>
              <a:rPr lang="en-GB" sz="17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( Cyber Security )</a:t>
            </a:r>
            <a:endParaRPr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400"/>
              </a:spcBef>
              <a:buClr>
                <a:srgbClr val="17365D"/>
              </a:buClr>
              <a:buSzPts val="2000"/>
            </a:pPr>
            <a:endParaRPr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15" name="table">
            <a:extLst>
              <a:ext uri="{FF2B5EF4-FFF2-40B4-BE49-F238E27FC236}">
                <a16:creationId xmlns:a16="http://schemas.microsoft.com/office/drawing/2014/main" id="{D761843D-5C7D-3F4F-1E97-70F2519131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948"/>
          <a:stretch>
            <a:fillRect/>
          </a:stretch>
        </p:blipFill>
        <p:spPr>
          <a:xfrm>
            <a:off x="321674" y="3429000"/>
            <a:ext cx="5514300" cy="1891680"/>
          </a:xfrm>
          <a:prstGeom prst="rect">
            <a:avLst/>
          </a:prstGeom>
        </p:spPr>
      </p:pic>
      <p:sp>
        <p:nvSpPr>
          <p:cNvPr id="16" name="Google Shape;91;p13">
            <a:extLst>
              <a:ext uri="{FF2B5EF4-FFF2-40B4-BE49-F238E27FC236}">
                <a16:creationId xmlns:a16="http://schemas.microsoft.com/office/drawing/2014/main" id="{3E312231-93BC-0016-3640-9C9B6E18AC3E}"/>
              </a:ext>
            </a:extLst>
          </p:cNvPr>
          <p:cNvSpPr txBox="1"/>
          <p:nvPr/>
        </p:nvSpPr>
        <p:spPr>
          <a:xfrm>
            <a:off x="3346513" y="386548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17365D"/>
              </a:buClr>
              <a:buSzPct val="100000"/>
            </a:pPr>
            <a:r>
              <a:rPr lang="en-GB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 Capstone Project</a:t>
            </a:r>
            <a:endParaRPr sz="1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spcBef>
                <a:spcPts val="311"/>
              </a:spcBef>
              <a:buClr>
                <a:srgbClr val="17365D"/>
              </a:buClr>
              <a:buSzPct val="100000"/>
            </a:pPr>
            <a:r>
              <a:rPr lang="en-GB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2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7" name="Google Shape;91;p13">
            <a:extLst>
              <a:ext uri="{FF2B5EF4-FFF2-40B4-BE49-F238E27FC236}">
                <a16:creationId xmlns:a16="http://schemas.microsoft.com/office/drawing/2014/main" id="{D559017F-8C95-C441-3AB5-E5EFE9DF0FD6}"/>
              </a:ext>
            </a:extLst>
          </p:cNvPr>
          <p:cNvSpPr txBox="1"/>
          <p:nvPr/>
        </p:nvSpPr>
        <p:spPr>
          <a:xfrm>
            <a:off x="231070" y="5378601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>
                <a:solidFill>
                  <a:schemeClr val="bg1"/>
                </a:solidFill>
              </a:rPr>
              <a:t>Dr. Anandaraj S.P</a:t>
            </a:r>
            <a:endPara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solidFill>
                  <a:schemeClr val="bg1"/>
                </a:solidFill>
              </a:rPr>
              <a:t>Dr. </a:t>
            </a:r>
            <a:r>
              <a:rPr lang="en-IN" sz="1800" b="1" dirty="0" err="1">
                <a:solidFill>
                  <a:schemeClr val="bg1"/>
                </a:solidFill>
              </a:rPr>
              <a:t>Sharmasth</a:t>
            </a:r>
            <a:r>
              <a:rPr lang="en-IN" sz="1800" b="1" dirty="0">
                <a:solidFill>
                  <a:schemeClr val="bg1"/>
                </a:solidFill>
              </a:rPr>
              <a:t> Vali</a:t>
            </a:r>
            <a:endPara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Dr. </a:t>
            </a:r>
            <a:r>
              <a:rPr lang="en-US" sz="18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9" name="Google Shape;88;p13">
            <a:extLst>
              <a:ext uri="{FF2B5EF4-FFF2-40B4-BE49-F238E27FC236}">
                <a16:creationId xmlns:a16="http://schemas.microsoft.com/office/drawing/2014/main" id="{3751704E-4A0C-1189-872D-705949090801}"/>
              </a:ext>
            </a:extLst>
          </p:cNvPr>
          <p:cNvSpPr txBox="1">
            <a:spLocks noGrp="1"/>
          </p:cNvSpPr>
          <p:nvPr/>
        </p:nvSpPr>
        <p:spPr>
          <a:xfrm>
            <a:off x="535857" y="3043429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 Number                         Student Name</a:t>
            </a:r>
            <a:endParaRPr sz="1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05D2DB-73EA-2682-77F6-1492B8C88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94462"/>
              </p:ext>
            </p:extLst>
          </p:nvPr>
        </p:nvGraphicFramePr>
        <p:xfrm>
          <a:off x="535857" y="3429000"/>
          <a:ext cx="4628254" cy="1112520"/>
        </p:xfrm>
        <a:graphic>
          <a:graphicData uri="http://schemas.openxmlformats.org/drawingml/2006/table">
            <a:tbl>
              <a:tblPr firstRow="1" bandRow="1"/>
              <a:tblGrid>
                <a:gridCol w="2314127">
                  <a:extLst>
                    <a:ext uri="{9D8B030D-6E8A-4147-A177-3AD203B41FA5}">
                      <a16:colId xmlns:a16="http://schemas.microsoft.com/office/drawing/2014/main" val="869078806"/>
                    </a:ext>
                  </a:extLst>
                </a:gridCol>
                <a:gridCol w="2314127">
                  <a:extLst>
                    <a:ext uri="{9D8B030D-6E8A-4147-A177-3AD203B41FA5}">
                      <a16:colId xmlns:a16="http://schemas.microsoft.com/office/drawing/2014/main" val="3071596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20221CCS0145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Sumeet 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72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20231CCS3008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Sampath Kumar MS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5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20231CCS3007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Anup R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Ganiger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14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96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25BDE-94F0-8B0C-ADD4-435B2122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EC8A-588D-FA5D-5DBA-88A42542C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18" y="417531"/>
            <a:ext cx="3212606" cy="1020330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E59EBF0A-4437-69CC-837F-EB78B9DC55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AF60744-9994-86E2-B6B7-46FA03C4DF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5918" y="1805937"/>
            <a:ext cx="1041551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Quirk is an intelligent web security dashboard designed to protect websites from modern cyber threats such as SQL injection, XSS attacks, proxy misuse, and spam bots.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leverages pattern recognition, anomaly detection, and industry-standard algorithms to identify both known and unknown vulnerabilities in real time.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a centralized admin panel with advanced features like traffic monitoring, banning malicious users, error tracking, and analytics to ensure proactive defense.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combining automated security mechanisms with easy-to-use tools, Quirk offers a cost-effective, scalable, and reliable security solution for individuals and enterprises.</a:t>
            </a:r>
          </a:p>
        </p:txBody>
      </p:sp>
    </p:spTree>
    <p:extLst>
      <p:ext uri="{BB962C8B-B14F-4D97-AF65-F5344CB8AC3E}">
        <p14:creationId xmlns:p14="http://schemas.microsoft.com/office/powerpoint/2010/main" val="41007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C8603-1F51-2A77-2D0A-8054B94B7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BBE1-2FFE-20E3-CA74-AE925818D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36" y="290613"/>
            <a:ext cx="6437069" cy="102033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EEEF3835-B0A5-AAC9-1A02-9672F64D9C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F98BB4-0907-8E40-AAF5-A1440834D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36" y="1590348"/>
            <a:ext cx="1191922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 Security Challenges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threats like SQL injection, XSS, and bot attacks reported in research papers.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tools focus on detection but lack integrated monitoring and prevention.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Solutions &amp; Tools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WAFs (Web Application Firewalls):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strong protection but are costly and resource-intensive.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IDS/IPS Systems: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 in anomaly detection but prone to false positives and require expertise.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Log-based Monitoring Tools: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in auditing but lack real-time prevention mechanisms.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Gaps Identified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solutions are either expensive or complex to manage.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availability of lightweight, modular, and user-friendly dashboards.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integrated approach combining detection, monitoring, and analytics in one platform.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09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606F9-7BCD-0496-325A-C2A3A1C4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A1193-E414-AE31-411E-C7DF9366C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657" y="303435"/>
            <a:ext cx="5779343" cy="102033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52DA076D-03C9-6F3E-73E4-018826AF37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801E8F-C451-0E64-39E4-559405B0B8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6657" y="1634487"/>
            <a:ext cx="109568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applications remain primary targets for cyber-attacks such as SQLi, XSS, and DDoS due to widespread adoption.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Researchers have proposed intrusion detection systems (IDS), anomaly detection, and AI-based solutions for identifying malicious activities.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and XSS remain the most common attack vectors, with surveys highlighting gaps in detection accuracy and prevention methods.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and deep learning models have been widely explored for anomaly detection but face scalability and real-time performance challenges.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works emphasize integration of multiple defense mechanisms like proxy detection, spam filtering, and log analysis for enhanced security.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 advances, existing systems often lack centralized management, user-friendly dashboards, and integration flexibility for small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223715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DCECB-0272-B273-0D3E-0B25B009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2623-88DB-3E09-6998-A1677B03C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569" y="262539"/>
            <a:ext cx="10179063" cy="102033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B094DD58-A391-F989-1587-DCD84D32D6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CF4730-4D58-4816-3BC0-610572554C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2569" y="1447611"/>
            <a:ext cx="1142206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 Firewalls (WAFs):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 WAFs analyze HTTP/HTTPS traffic and block malicious requests based on rule sets and signatures. While effective, they are often costly, require frequent updates, and may generate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false positives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disrupt legitimate users.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Intrusion Detection and Prevention Systems (IDPS):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systems detect anomalies in traffic using signature-based or anomaly-based methods. However,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signature-based systems cannot detect zero-day attacks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anomaly-based systems often suffer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configuration and high resource consumption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Validation and Sanitization Tools: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frameworks provide libraries for sanitizing inputs and filtering bad content. Although essential, these tools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to known attack vectors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cannot handle advanced or evolving threats.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Blacklist and DNSBL Databases: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IP-based blacklisting is commonly used to block known malicious IPs, spammers, and proxies. The drawback is that attackers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easily bypass blacklists using VPNs, TOR networks, or botnets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Plugins for CMS Platforms: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Platforms like WordPress and Joomla offer plugins to improve security. However, these are often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platform-specific, not scalable, and prone to compatibility issues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296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FD594-14EF-670B-0950-563BF2A1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4CC3-1609-B5C8-DFE8-70381677B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79" y="110942"/>
            <a:ext cx="3613658" cy="102033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068CECF7-54DF-AA00-72A1-DA8ACFC327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127186-644D-71F2-559D-ADAA19A006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0779" y="1169179"/>
            <a:ext cx="1132564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Resource Usage: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 monitoring, logging, and analytics can consume significant CPU and memory resources, especially on low-end servers.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Positives &amp; Negatives: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legitimate users may be blocked mistakenly, while some sophisticated attacks might bypass detection.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Coverage: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Focused mainly on web application security; does not fully protect other layers like network or endpoint devices.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Rule Updates: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 rules and threat signatures need periodic manual updates to stay effective against new attack vectors.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Dependency: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and reliability depend heavily on the server environment and configuration.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Curve: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Admins need technical expertise to configure and interpret analytics effectively.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Challenges: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Handling a large number of concurrent users and traffic analytics may require additional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61142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F654B-D6A4-E84C-969B-2F146341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A3B7-6ADD-78CB-C245-5FCEEEAA1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602" y="166286"/>
            <a:ext cx="11666795" cy="1020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&amp; Feasibility Study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34B13E96-5E26-2233-6B95-AF580D30BD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A392DF0-B697-F6F3-FA5C-0783427253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0020" y="1721690"/>
            <a:ext cx="10415511" cy="361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/>
              <a:t>Proposed Method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Quirk integrates </a:t>
            </a:r>
            <a:r>
              <a:rPr lang="en-US" sz="2000" b="1" dirty="0"/>
              <a:t>multi-layer protection</a:t>
            </a:r>
            <a:r>
              <a:rPr lang="en-US" sz="2000" dirty="0"/>
              <a:t>: SQLi/XSS filtering, proxy &amp; bot detection, spam control.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Provides a </a:t>
            </a:r>
            <a:r>
              <a:rPr lang="en-US" sz="2000" b="1" dirty="0"/>
              <a:t>real-time dashboard</a:t>
            </a:r>
            <a:r>
              <a:rPr lang="en-US" sz="2000" dirty="0"/>
              <a:t> with traffic analytics, threat logs, and admin tools.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Uses </a:t>
            </a:r>
            <a:r>
              <a:rPr lang="en-US" sz="2000" b="1" dirty="0"/>
              <a:t>adaptive pattern recognition</a:t>
            </a:r>
            <a:r>
              <a:rPr lang="en-US" sz="2000" dirty="0"/>
              <a:t> to detect known and unknown attacks.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Lightweight, easy to deploy with a simple PHP integration.</a:t>
            </a:r>
          </a:p>
          <a:p>
            <a:pPr algn="l"/>
            <a:r>
              <a:rPr lang="en-US" sz="2000" b="1" dirty="0"/>
              <a:t>Feasibility Study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Technical:</a:t>
            </a:r>
            <a:r>
              <a:rPr lang="en-US" sz="2000" dirty="0"/>
              <a:t> Built with PHP &amp; MySQL, compatible with common servers, low resource usage.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Operational:</a:t>
            </a:r>
            <a:r>
              <a:rPr lang="en-US" sz="2000" dirty="0"/>
              <a:t> Easy setup wizard and intuitive dashboard for admins.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Economic:</a:t>
            </a:r>
            <a:r>
              <a:rPr lang="en-US" sz="2000" dirty="0"/>
              <a:t> Open-source and cost-effective alternative to enterprise WAFs.</a:t>
            </a:r>
          </a:p>
        </p:txBody>
      </p:sp>
    </p:spTree>
    <p:extLst>
      <p:ext uri="{BB962C8B-B14F-4D97-AF65-F5344CB8AC3E}">
        <p14:creationId xmlns:p14="http://schemas.microsoft.com/office/powerpoint/2010/main" val="399966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9F414-205B-95CF-A01A-CFDE8E2E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92B8-6898-6FB5-6B3F-07ADC4060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602" y="166286"/>
            <a:ext cx="11666795" cy="102033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45581332-FE3C-1EA2-93D0-EE25139E7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FC45B-E136-0F5D-9210-559CE1C966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ECC6F-E6B1-7F83-1836-F64BAB0EB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0" y="1309843"/>
            <a:ext cx="681132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51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5A3C1-3147-5804-2E2F-15237742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8BBC-96E7-DB07-73DE-40C519A85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602" y="166286"/>
            <a:ext cx="11666795" cy="102033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3B8264C0-0ED5-3A2C-F196-1A5C02E856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28B9E7-71BA-A3FD-C058-AC2C39552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2602" y="1298411"/>
            <a:ext cx="657734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system overview &amp; alerts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Info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server &amp; PHP details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Activity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track logins &amp; suspicious attempts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Detection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block injection attacks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Bad Bot &amp; Proxy Detection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filter malicious bots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Detection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prevent spam submissions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 &amp; File Whitelisting/Blocking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manage access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maintain attack &amp; event logs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 Function &amp; Config Checker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monitor vulnerabilities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Analytics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web traffic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Tracking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log &amp; report errors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htaccess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configure access rules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 Analyzer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check open ports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 Generator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create cryptographic hashes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Country/IP Banning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restrict access by region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Integrity Checker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detect unauthorized changes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Alerts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notify admin instantly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Activity Monitoring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track user actions on the site</a:t>
            </a:r>
          </a:p>
        </p:txBody>
      </p:sp>
    </p:spTree>
    <p:extLst>
      <p:ext uri="{BB962C8B-B14F-4D97-AF65-F5344CB8AC3E}">
        <p14:creationId xmlns:p14="http://schemas.microsoft.com/office/powerpoint/2010/main" val="163298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71138-FD14-E0AB-9D0B-FECC7F0A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A1F4-A83B-6390-753F-214E7FCD5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294" y="166286"/>
            <a:ext cx="11666795" cy="102033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Details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18210C79-3FDD-A4F0-08DA-FEE3C5D36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BB936-B558-B3AC-22FA-ADC95EFAE513}"/>
              </a:ext>
            </a:extLst>
          </p:cNvPr>
          <p:cNvSpPr txBox="1"/>
          <p:nvPr/>
        </p:nvSpPr>
        <p:spPr>
          <a:xfrm>
            <a:off x="493294" y="1435168"/>
            <a:ext cx="61521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i="1" dirty="0"/>
              <a:t>Font Awesome Icons - </a:t>
            </a:r>
            <a:r>
              <a:rPr lang="en-IN" i="1" dirty="0">
                <a:hlinkClick r:id="rId4"/>
              </a:rPr>
              <a:t>FontAwesome.com</a:t>
            </a:r>
            <a:endParaRPr lang="en-IN" i="1" dirty="0"/>
          </a:p>
          <a:p>
            <a:pPr fontAlgn="base"/>
            <a:r>
              <a:rPr lang="en-IN" i="1" dirty="0"/>
              <a:t>Bootstrap Framework - </a:t>
            </a:r>
            <a:r>
              <a:rPr lang="en-IN" i="1" dirty="0">
                <a:hlinkClick r:id="rId5"/>
              </a:rPr>
              <a:t>GetBootstrap.com</a:t>
            </a:r>
            <a:endParaRPr lang="en-IN" i="1" dirty="0"/>
          </a:p>
          <a:p>
            <a:pPr fontAlgn="base"/>
            <a:r>
              <a:rPr lang="en-IN" i="1" dirty="0" err="1"/>
              <a:t>DataTables</a:t>
            </a:r>
            <a:r>
              <a:rPr lang="en-IN" i="1" dirty="0"/>
              <a:t> - </a:t>
            </a:r>
            <a:r>
              <a:rPr lang="en-IN" i="1" dirty="0">
                <a:hlinkClick r:id="rId6"/>
              </a:rPr>
              <a:t>DataTables.net</a:t>
            </a:r>
            <a:endParaRPr lang="en-IN" i="1" dirty="0"/>
          </a:p>
          <a:p>
            <a:pPr fontAlgn="base"/>
            <a:r>
              <a:rPr lang="en-IN" i="1" dirty="0"/>
              <a:t>jQuery - </a:t>
            </a:r>
            <a:r>
              <a:rPr lang="en-IN" i="1" dirty="0">
                <a:hlinkClick r:id="rId7"/>
              </a:rPr>
              <a:t>jQuery.com</a:t>
            </a:r>
            <a:endParaRPr lang="en-IN" i="1" dirty="0"/>
          </a:p>
          <a:p>
            <a:pPr fontAlgn="base"/>
            <a:r>
              <a:rPr lang="en-IN" i="1" dirty="0" err="1"/>
              <a:t>AdminLTE</a:t>
            </a:r>
            <a:r>
              <a:rPr lang="en-IN" i="1" dirty="0"/>
              <a:t> - </a:t>
            </a:r>
            <a:r>
              <a:rPr lang="en-IN" i="1" dirty="0">
                <a:hlinkClick r:id="rId8"/>
              </a:rPr>
              <a:t>github.com/almasaeed2010/</a:t>
            </a:r>
            <a:r>
              <a:rPr lang="en-IN" i="1" dirty="0" err="1">
                <a:hlinkClick r:id="rId8"/>
              </a:rPr>
              <a:t>AdminLTE</a:t>
            </a:r>
            <a:endParaRPr lang="en-IN" i="1" dirty="0"/>
          </a:p>
          <a:p>
            <a:pPr fontAlgn="base"/>
            <a:r>
              <a:rPr lang="en-IN" i="1" dirty="0"/>
              <a:t>Select2 - </a:t>
            </a:r>
            <a:r>
              <a:rPr lang="en-IN" i="1" dirty="0">
                <a:hlinkClick r:id="rId9"/>
              </a:rPr>
              <a:t>select2.github.io</a:t>
            </a:r>
            <a:endParaRPr lang="en-IN" i="1" dirty="0"/>
          </a:p>
          <a:p>
            <a:pPr fontAlgn="base"/>
            <a:r>
              <a:rPr lang="en-IN" i="1" dirty="0" err="1"/>
              <a:t>OpenLayers</a:t>
            </a:r>
            <a:r>
              <a:rPr lang="en-IN" i="1" dirty="0"/>
              <a:t> - </a:t>
            </a:r>
            <a:r>
              <a:rPr lang="en-IN" i="1" dirty="0">
                <a:hlinkClick r:id="rId10"/>
              </a:rPr>
              <a:t>github.com/</a:t>
            </a:r>
            <a:r>
              <a:rPr lang="en-IN" i="1" dirty="0" err="1">
                <a:hlinkClick r:id="rId10"/>
              </a:rPr>
              <a:t>openlayers</a:t>
            </a:r>
            <a:r>
              <a:rPr lang="en-IN" i="1" dirty="0">
                <a:hlinkClick r:id="rId10"/>
              </a:rPr>
              <a:t>/</a:t>
            </a:r>
            <a:r>
              <a:rPr lang="en-IN" i="1" dirty="0" err="1">
                <a:hlinkClick r:id="rId10"/>
              </a:rPr>
              <a:t>openlayers</a:t>
            </a:r>
            <a:endParaRPr lang="en-IN" i="1" dirty="0"/>
          </a:p>
          <a:p>
            <a:pPr fontAlgn="base"/>
            <a:r>
              <a:rPr lang="en-IN" i="1" dirty="0"/>
              <a:t>Chart.js - </a:t>
            </a:r>
            <a:r>
              <a:rPr lang="en-IN" i="1" dirty="0">
                <a:hlinkClick r:id="rId11"/>
              </a:rPr>
              <a:t>Chartjs.org</a:t>
            </a:r>
            <a:endParaRPr lang="en-IN" i="1" dirty="0"/>
          </a:p>
          <a:p>
            <a:pPr fontAlgn="base"/>
            <a:r>
              <a:rPr lang="en-IN" i="1" dirty="0"/>
              <a:t>Flag Sprites - </a:t>
            </a:r>
            <a:r>
              <a:rPr lang="en-IN" i="1" dirty="0">
                <a:hlinkClick r:id="rId12"/>
              </a:rPr>
              <a:t>Flag-Sprites.com</a:t>
            </a:r>
            <a:endParaRPr lang="en-IN" i="1" dirty="0"/>
          </a:p>
          <a:p>
            <a:pPr fontAlgn="base"/>
            <a:r>
              <a:rPr lang="en-IN" i="1" dirty="0"/>
              <a:t>iP.NF - </a:t>
            </a:r>
            <a:r>
              <a:rPr lang="en-IN" i="1" dirty="0">
                <a:hlinkClick r:id="rId13"/>
              </a:rPr>
              <a:t>ip.nf</a:t>
            </a:r>
            <a:endParaRPr lang="en-IN" sz="1800" i="1" dirty="0"/>
          </a:p>
          <a:p>
            <a:pPr algn="l" fontAlgn="base"/>
            <a:r>
              <a:rPr lang="en-IN" sz="1800" i="1" dirty="0"/>
              <a:t>ipapi.co - </a:t>
            </a:r>
            <a:r>
              <a:rPr lang="en-IN" sz="1800" i="1" dirty="0">
                <a:hlinkClick r:id="rId14"/>
              </a:rPr>
              <a:t>ipapi.co</a:t>
            </a:r>
            <a:endParaRPr lang="en-IN" sz="1800" i="1" dirty="0"/>
          </a:p>
          <a:p>
            <a:pPr algn="l" fontAlgn="base"/>
            <a:r>
              <a:rPr lang="en-IN" sz="1800" i="1" dirty="0" err="1"/>
              <a:t>IPHub</a:t>
            </a:r>
            <a:r>
              <a:rPr lang="en-IN" sz="1800" i="1" dirty="0"/>
              <a:t> - </a:t>
            </a:r>
            <a:r>
              <a:rPr lang="en-IN" sz="1800" i="1" dirty="0">
                <a:hlinkClick r:id="rId15"/>
              </a:rPr>
              <a:t>iphub.info</a:t>
            </a:r>
            <a:endParaRPr lang="en-IN" sz="1800" i="1" dirty="0"/>
          </a:p>
          <a:p>
            <a:pPr algn="l" fontAlgn="base"/>
            <a:r>
              <a:rPr lang="en-IN" sz="1800" i="1" dirty="0"/>
              <a:t>proxycheck.io - </a:t>
            </a:r>
            <a:r>
              <a:rPr lang="en-IN" sz="1800" i="1" dirty="0">
                <a:hlinkClick r:id="rId16"/>
              </a:rPr>
              <a:t>proxycheck.io</a:t>
            </a:r>
            <a:endParaRPr lang="en-IN" sz="1800" i="1" dirty="0"/>
          </a:p>
          <a:p>
            <a:pPr algn="l" fontAlgn="base"/>
            <a:r>
              <a:rPr lang="en-IN" sz="1800" i="1" dirty="0" err="1"/>
              <a:t>IPHunter</a:t>
            </a:r>
            <a:r>
              <a:rPr lang="en-IN" sz="1800" i="1" dirty="0"/>
              <a:t> - </a:t>
            </a:r>
            <a:r>
              <a:rPr lang="en-IN" sz="1800" i="1" dirty="0">
                <a:hlinkClick r:id="rId17"/>
              </a:rPr>
              <a:t>iphunter.info</a:t>
            </a:r>
            <a:endParaRPr lang="en-IN" sz="1800" i="1" dirty="0"/>
          </a:p>
          <a:p>
            <a:pPr algn="l" fontAlgn="base"/>
            <a:r>
              <a:rPr lang="en-IN" sz="1800" i="1" dirty="0" err="1"/>
              <a:t>Switchery</a:t>
            </a:r>
            <a:r>
              <a:rPr lang="en-IN" sz="1800" i="1" dirty="0"/>
              <a:t> - </a:t>
            </a:r>
            <a:r>
              <a:rPr lang="en-IN" sz="1800" i="1" dirty="0">
                <a:hlinkClick r:id="rId18"/>
              </a:rPr>
              <a:t>abpetkov.github.io/</a:t>
            </a:r>
            <a:r>
              <a:rPr lang="en-IN" sz="1800" i="1" dirty="0" err="1">
                <a:hlinkClick r:id="rId18"/>
              </a:rPr>
              <a:t>switchery</a:t>
            </a:r>
            <a:endParaRPr lang="en-IN" sz="1800" i="1" dirty="0"/>
          </a:p>
          <a:p>
            <a:pPr algn="l" fontAlgn="base"/>
            <a:r>
              <a:rPr lang="en-IN" sz="1800" i="1" dirty="0"/>
              <a:t>Popper.JS - </a:t>
            </a:r>
            <a:r>
              <a:rPr lang="en-IN" sz="1800" i="1" dirty="0">
                <a:hlinkClick r:id="rId19"/>
              </a:rPr>
              <a:t>popper.js.org</a:t>
            </a:r>
            <a:endParaRPr lang="en-IN" sz="1800" i="1" dirty="0"/>
          </a:p>
          <a:p>
            <a:pPr algn="l" fontAlgn="base"/>
            <a:r>
              <a:rPr lang="en-IN" sz="1800" i="1" dirty="0" err="1"/>
              <a:t>OverlayScrollbars</a:t>
            </a:r>
            <a:r>
              <a:rPr lang="en-IN" sz="1800" i="1" dirty="0"/>
              <a:t> - </a:t>
            </a:r>
            <a:r>
              <a:rPr lang="en-IN" sz="1800" i="1" dirty="0">
                <a:hlinkClick r:id="rId20"/>
              </a:rPr>
              <a:t>github.com/</a:t>
            </a:r>
            <a:r>
              <a:rPr lang="en-IN" sz="1800" i="1" dirty="0" err="1">
                <a:hlinkClick r:id="rId20"/>
              </a:rPr>
              <a:t>KingSora</a:t>
            </a:r>
            <a:r>
              <a:rPr lang="en-IN" sz="1800" i="1" dirty="0">
                <a:hlinkClick r:id="rId20"/>
              </a:rPr>
              <a:t>/</a:t>
            </a:r>
            <a:r>
              <a:rPr lang="en-IN" sz="1800" i="1" dirty="0" err="1">
                <a:hlinkClick r:id="rId20"/>
              </a:rPr>
              <a:t>OverlayScrollbars</a:t>
            </a:r>
            <a:endParaRPr lang="en-IN" sz="1800" i="1" dirty="0"/>
          </a:p>
          <a:p>
            <a:pPr algn="l" fontAlgn="base"/>
            <a:r>
              <a:rPr lang="en-IN" sz="1800" i="1" dirty="0" err="1"/>
              <a:t>cloudflare</a:t>
            </a:r>
            <a:r>
              <a:rPr lang="en-IN" sz="1800" i="1" dirty="0"/>
              <a:t> -  </a:t>
            </a:r>
            <a:r>
              <a:rPr lang="en-IN" sz="1800" i="1" dirty="0">
                <a:hlinkClick r:id="rId21"/>
              </a:rPr>
              <a:t>https://www.cloudflare.com/</a:t>
            </a:r>
            <a:endParaRPr lang="en-IN" sz="1800" i="1" dirty="0"/>
          </a:p>
        </p:txBody>
      </p:sp>
    </p:spTree>
    <p:extLst>
      <p:ext uri="{BB962C8B-B14F-4D97-AF65-F5344CB8AC3E}">
        <p14:creationId xmlns:p14="http://schemas.microsoft.com/office/powerpoint/2010/main" val="3489161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8EC0A-8036-58D8-FEA4-2FA40D3F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87C6-0F11-5D88-0B2F-C5B71D88A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313" y="166286"/>
            <a:ext cx="11666795" cy="102033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80F32356-1AFF-BF7D-8909-8473DF263A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2" descr="Output image">
            <a:extLst>
              <a:ext uri="{FF2B5EF4-FFF2-40B4-BE49-F238E27FC236}">
                <a16:creationId xmlns:a16="http://schemas.microsoft.com/office/drawing/2014/main" id="{66082FD6-C2BA-E683-4FBF-5F114865B5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465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Output image">
            <a:extLst>
              <a:ext uri="{FF2B5EF4-FFF2-40B4-BE49-F238E27FC236}">
                <a16:creationId xmlns:a16="http://schemas.microsoft.com/office/drawing/2014/main" id="{B0E3E8F7-0F5B-2919-3D9C-EA50FF7415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1313" y="0"/>
            <a:ext cx="11507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154649-CAB1-F402-F03B-CBDFB4063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94" y="1352902"/>
            <a:ext cx="8526789" cy="508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85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F08B2-741E-2FEA-DE71-AA208997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0552-07A3-6A8A-68E5-2140D1198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8" y="1314227"/>
            <a:ext cx="3096127" cy="613230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References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03BBDB12-8C58-EA8D-5CC8-40A3136B7D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6FF7415-4A37-97B6-02B4-F3FB56DF5F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168" y="2168490"/>
            <a:ext cx="11421980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2000" dirty="0"/>
              <a:t>[1] S. Z. A. Shah, A. M. Khattak, and S. U. Jan, “Web application security: Threats, attacks and countermeasures,” </a:t>
            </a:r>
            <a:r>
              <a:rPr lang="en-IN" sz="2000" i="1" dirty="0"/>
              <a:t>IEEE Access</a:t>
            </a:r>
            <a:r>
              <a:rPr lang="en-IN" sz="2000" dirty="0"/>
              <a:t>, vol. 7, pp. 153779–153795, Oct. 2019.</a:t>
            </a:r>
          </a:p>
          <a:p>
            <a:pPr algn="l"/>
            <a:r>
              <a:rPr lang="en-IN" sz="2000" dirty="0"/>
              <a:t>[2] P. Biswas, A. Gupta, and S. Roy, “A survey on SQL injection: Detection and prevention techniques,” </a:t>
            </a:r>
            <a:r>
              <a:rPr lang="en-IN" sz="2000" i="1" dirty="0"/>
              <a:t>IEEE Transactions on Dependable and Secure Computing</a:t>
            </a:r>
            <a:r>
              <a:rPr lang="en-IN" sz="2000" dirty="0"/>
              <a:t>, vol. 18, no. 6, pp. 2560–2577, Nov.–Dec. 2021.</a:t>
            </a:r>
          </a:p>
          <a:p>
            <a:pPr algn="l"/>
            <a:r>
              <a:rPr lang="en-IN" sz="2000" dirty="0"/>
              <a:t>[3] A. S. Rawat and R. Tiwari, “Anomaly detection in web traffic using machine learning techniques,” </a:t>
            </a:r>
            <a:r>
              <a:rPr lang="en-IN" sz="2000" i="1" dirty="0"/>
              <a:t>IEEE Access</a:t>
            </a:r>
            <a:r>
              <a:rPr lang="en-IN" sz="2000" dirty="0"/>
              <a:t>, vol. 10, pp. 54628–54640, Jun. 2022.</a:t>
            </a:r>
          </a:p>
          <a:p>
            <a:pPr algn="l"/>
            <a:r>
              <a:rPr lang="en-IN" sz="2000" dirty="0"/>
              <a:t>[4] H. Tahir, M. A. Shah, and A. Wahid, “Towards secure web applications: A framework for detecting malicious requests,” </a:t>
            </a:r>
            <a:r>
              <a:rPr lang="en-IN" sz="2000" i="1" dirty="0"/>
              <a:t>IEEE International Conference on Emerging Technologies (ICET)</a:t>
            </a:r>
            <a:r>
              <a:rPr lang="en-IN" sz="2000" dirty="0"/>
              <a:t>, pp. 1–6, Dec. 2020.</a:t>
            </a:r>
          </a:p>
          <a:p>
            <a:pPr algn="l"/>
            <a:r>
              <a:rPr lang="en-IN" sz="2000" dirty="0"/>
              <a:t>[5] A. A. Ghorbani, W. Lu, and M. </a:t>
            </a:r>
            <a:r>
              <a:rPr lang="en-IN" sz="2000" dirty="0" err="1"/>
              <a:t>Tavallaee</a:t>
            </a:r>
            <a:r>
              <a:rPr lang="en-IN" sz="2000" dirty="0"/>
              <a:t>, “Network intrusion detection and prevention: Concepts and techniques,” </a:t>
            </a:r>
            <a:r>
              <a:rPr lang="en-IN" sz="2000" i="1" dirty="0"/>
              <a:t>IEEE Communications Surveys &amp; Tutorials</a:t>
            </a:r>
            <a:r>
              <a:rPr lang="en-IN" sz="2000" dirty="0"/>
              <a:t>, vol. 21, no. 1, pp. 70–94, Jan.–Mar. 2019.</a:t>
            </a:r>
          </a:p>
        </p:txBody>
      </p:sp>
    </p:spTree>
    <p:extLst>
      <p:ext uri="{BB962C8B-B14F-4D97-AF65-F5344CB8AC3E}">
        <p14:creationId xmlns:p14="http://schemas.microsoft.com/office/powerpoint/2010/main" val="1921646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5BF08-BBF1-60FE-7275-FD95CE861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2B3B-8F8C-5CB5-048A-4FA337824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8" y="1314227"/>
            <a:ext cx="3096127" cy="613230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References</a:t>
            </a:r>
          </a:p>
        </p:txBody>
      </p:sp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1C0B56D3-54B6-A929-A47A-E254988F21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B3FB4D0-E219-77BB-F5D5-550371FF82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168" y="2168490"/>
            <a:ext cx="11421980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2000" dirty="0"/>
              <a:t>[6] M. Singh and K. Kumar, “Cross-site scripting (XSS) attack detection using ensemble learning,” </a:t>
            </a:r>
            <a:r>
              <a:rPr lang="en-IN" sz="2000" i="1" dirty="0"/>
              <a:t>IEEE Access</a:t>
            </a:r>
            <a:r>
              <a:rPr lang="en-IN" sz="2000" dirty="0"/>
              <a:t>, vol. 8, pp. 170588–170602, Sept. 2020.</a:t>
            </a:r>
          </a:p>
          <a:p>
            <a:pPr algn="l"/>
            <a:r>
              <a:rPr lang="en-IN" sz="2000" dirty="0"/>
              <a:t>[7] R. </a:t>
            </a:r>
            <a:r>
              <a:rPr lang="en-IN" sz="2000" dirty="0" err="1"/>
              <a:t>Beghdad</a:t>
            </a:r>
            <a:r>
              <a:rPr lang="en-IN" sz="2000" dirty="0"/>
              <a:t>, “SQL injection attacks detection and prevention techniques: A survey,” </a:t>
            </a:r>
            <a:r>
              <a:rPr lang="en-IN" sz="2000" i="1" dirty="0"/>
              <a:t>IEEE Access</a:t>
            </a:r>
            <a:r>
              <a:rPr lang="en-IN" sz="2000" dirty="0"/>
              <a:t>, vol. 9, pp. 160312–160329, Nov. 2021.</a:t>
            </a:r>
          </a:p>
          <a:p>
            <a:pPr algn="l"/>
            <a:r>
              <a:rPr lang="en-IN" sz="2000" dirty="0"/>
              <a:t>[8] J. He, C. Yang, and X. Liu, “Real-time detection of web attacks using deep learning,” </a:t>
            </a:r>
            <a:r>
              <a:rPr lang="en-IN" sz="2000" i="1" dirty="0"/>
              <a:t>IEEE Transactions on Information Forensics and Security</a:t>
            </a:r>
            <a:r>
              <a:rPr lang="en-IN" sz="2000" dirty="0"/>
              <a:t>, vol. 16, pp. 2478–2492, Apr. 2021.</a:t>
            </a:r>
          </a:p>
          <a:p>
            <a:pPr algn="l"/>
            <a:r>
              <a:rPr lang="en-IN" sz="2000" dirty="0"/>
              <a:t>[9] V. Sharma, A. Yadav, and S. Panda, “Comprehensive review on anomaly-based intrusion detection systems,” </a:t>
            </a:r>
            <a:r>
              <a:rPr lang="en-IN" sz="2000" i="1" dirty="0"/>
              <a:t>IEEE Access</a:t>
            </a:r>
            <a:r>
              <a:rPr lang="en-IN" sz="2000" dirty="0"/>
              <a:t>, vol. 8, pp. 73345–73371, May 2020.</a:t>
            </a:r>
          </a:p>
          <a:p>
            <a:pPr algn="l"/>
            <a:r>
              <a:rPr lang="en-IN" sz="2000" dirty="0"/>
              <a:t>[10] F. Hussain, A. K. Malik, H. Ali, and M. A. Shah, “A survey of cyber-attack detection using machine learning in IoT networks,” </a:t>
            </a:r>
            <a:r>
              <a:rPr lang="en-IN" sz="2000" i="1" dirty="0"/>
              <a:t>IEEE Access</a:t>
            </a:r>
            <a:r>
              <a:rPr lang="en-IN" sz="2000" dirty="0"/>
              <a:t>, vol. 8, pp. 219650–219673, Dec. 2020.</a:t>
            </a:r>
          </a:p>
        </p:txBody>
      </p:sp>
    </p:spTree>
    <p:extLst>
      <p:ext uri="{BB962C8B-B14F-4D97-AF65-F5344CB8AC3E}">
        <p14:creationId xmlns:p14="http://schemas.microsoft.com/office/powerpoint/2010/main" val="384868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A1CAA-E6CD-8D21-A99C-3020BC0D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Business Nature Gradient Blue Texture Light Effect Powerpoint Background  For Free Download - Slidesdocs">
            <a:extLst>
              <a:ext uri="{FF2B5EF4-FFF2-40B4-BE49-F238E27FC236}">
                <a16:creationId xmlns:a16="http://schemas.microsoft.com/office/drawing/2014/main" id="{E663281D-05C1-C491-7868-317BABD206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287078" cy="428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F1BEC-8E04-E29D-520A-76F083D82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973" y="1909011"/>
            <a:ext cx="10194705" cy="53580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3116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1625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Abstract</vt:lpstr>
      <vt:lpstr>Literature Survey</vt:lpstr>
      <vt:lpstr>Objectives</vt:lpstr>
      <vt:lpstr>Existing Methods</vt:lpstr>
      <vt:lpstr>Drawbacks</vt:lpstr>
      <vt:lpstr>Proposed Method &amp; Feasibility Study</vt:lpstr>
      <vt:lpstr>Architecture Diagram</vt:lpstr>
      <vt:lpstr>Modules</vt:lpstr>
      <vt:lpstr>Software Details</vt:lpstr>
      <vt:lpstr>Timeline</vt:lpstr>
      <vt:lpstr>IEEE References</vt:lpstr>
      <vt:lpstr>IEEE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hacker hub8</dc:creator>
  <cp:lastModifiedBy>hacker hub8</cp:lastModifiedBy>
  <cp:revision>5</cp:revision>
  <dcterms:created xsi:type="dcterms:W3CDTF">2025-09-03T15:01:22Z</dcterms:created>
  <dcterms:modified xsi:type="dcterms:W3CDTF">2025-09-03T16:31:36Z</dcterms:modified>
</cp:coreProperties>
</file>